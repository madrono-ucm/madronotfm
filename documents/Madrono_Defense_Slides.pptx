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3175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8A9E"/>
                </a:solidFill>
                <a:latin typeface="Calibri"/>
              </a:rPr>
              <a:t>MASTER'S THESIS (TFM) —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Calibri Light"/>
              </a:rPr>
              <a:t>Madroño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D8E6EA"/>
                </a:solidFill>
                <a:latin typeface="Calibri"/>
              </a:rPr>
              <a:t>An End-to-End Urban Mobility Data Platform for Madrid,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D8E6EA"/>
                </a:solidFill>
                <a:latin typeface="Calibri"/>
              </a:rPr>
              <a:t>from Open Data to a Graph-Aware Conversational Assistant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709160"/>
            <a:ext cx="1280160" cy="3175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Filippos Dorezi  ·  Víctor Huaman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FC2C9"/>
                </a:solidFill>
                <a:latin typeface="Calibri"/>
              </a:rPr>
              <a:t>Sistema track (code, data, ML, infrastructure) &amp; Memoria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722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FB4BC"/>
                </a:solidFill>
                <a:latin typeface="Calibri"/>
              </a:rPr>
              <a:t>Universidad Complutense de Madrid   ·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43E"/>
                </a:solidFill>
                <a:latin typeface="Calibri Light"/>
              </a:rPr>
              <a:t>Three Real Constraints Drive Every Design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02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Madroño — TFM Defense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611880" cy="425196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611880" cy="8229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7452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DEFF1"/>
                </a:solidFill>
                <a:latin typeface="Calibri Ligh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F243E"/>
                </a:solidFill>
                <a:latin typeface="Calibri"/>
              </a:rPr>
              <a:t>Two people, no ops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306324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B33"/>
                </a:solidFill>
                <a:latin typeface="Calibri"/>
              </a:rPr>
              <a:t>No dedicated infra/SRE. Anything that must be “kept running” (a Kafka broker, a Spark cluster, a self-hosted graph DB) is a liability the team cannot absorb → serverless-first stack.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3611880" cy="425196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3611880" cy="8229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87452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DEFF1"/>
                </a:solidFill>
                <a:latin typeface="Calibri Ligh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46888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F243E"/>
                </a:solidFill>
                <a:latin typeface="Calibri"/>
              </a:rPr>
              <a:t>A short real data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383280"/>
            <a:ext cx="306324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B33"/>
                </a:solidFill>
                <a:latin typeface="Calibri"/>
              </a:rPr>
              <a:t>Continuous ingestion started 2026-08-14 — only ~3–4 weeks of hourly history by training time. Forces an honest framing: ML is a methodology demonstration, not a performance claim.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600200"/>
            <a:ext cx="3611880" cy="425196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600200"/>
            <a:ext cx="3611880" cy="8229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87452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DEFF1"/>
                </a:solidFill>
                <a:latin typeface="Calibri Ligh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46888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F243E"/>
                </a:solidFill>
                <a:latin typeface="Calibri"/>
              </a:rPr>
              <a:t>Zero-cost data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383280"/>
            <a:ext cx="306324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B33"/>
                </a:solidFill>
                <a:latin typeface="Calibri"/>
              </a:rPr>
              <a:t>Every source is open data. Google Maps’ popularity signal was investigated, verified to need a billing account even on the free tier, and replaced by a graph-derived signal instead.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1">
                <a:solidFill>
                  <a:srgbClr val="0F243E"/>
                </a:solidFill>
                <a:latin typeface="Calibri"/>
              </a:rPr>
              <a:t>Bottom line: every architectural decision in this project traces back to one of these three constraints.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43E"/>
                </a:solidFill>
                <a:latin typeface="Calibri Light"/>
              </a:rPr>
              <a:t>One Pipeline, One Backend, Three Public Surfaces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03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Madroño — TFM Defense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1274552" cy="416052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10703"/>
            <a:ext cx="10817352" cy="16480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670"/>
                </a:solidFill>
                <a:latin typeface="Calibri"/>
              </a:rPr>
              <a:t>All three public surfaces share the same conversational backend — one agent, one chat, three presentation layers.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43E"/>
                </a:solidFill>
                <a:latin typeface="Calibri Light"/>
              </a:rPr>
              <a:t>Medallion Lakehouse: Bronze → Silver → Gold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04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Madroño — TFM Defense</a:t>
            </a:r>
          </a:p>
        </p:txBody>
      </p:sp>
      <p:pic>
        <p:nvPicPr>
          <p:cNvPr id="8" name="Picture 7" descr="02_pipeline_d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492240" cy="14553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055524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16 continuous producers</a:t>
            </a:r>
            <a:r>
              <a:rPr sz="1450">
                <a:solidFill>
                  <a:srgbClr val="222B33"/>
                </a:solidFill>
                <a:latin typeface="Calibri"/>
              </a:rPr>
              <a:t> (Lambda + EventBridge Scheduler) + 7 one-off reference loads.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Quality gates at every step: </a:t>
            </a:r>
            <a:r>
              <a:rPr sz="1450">
                <a:solidFill>
                  <a:srgbClr val="222B33"/>
                </a:solidFill>
                <a:latin typeface="Calibri"/>
              </a:rPr>
              <a:t>plausibility rules + Great Expectations, run inside the real AWS Glue job.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Key decision: </a:t>
            </a:r>
            <a:r>
              <a:rPr sz="1450">
                <a:solidFill>
                  <a:srgbClr val="222B33"/>
                </a:solidFill>
                <a:latin typeface="Calibri"/>
              </a:rPr>
              <a:t>business logic is pure Python — zero pyspark/pandas import dependency; only a thin adapter touches Spark.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Real incident, found &amp; fixed: </a:t>
            </a:r>
            <a:r>
              <a:rPr sz="1450">
                <a:solidFill>
                  <a:srgbClr val="222B33"/>
                </a:solidFill>
                <a:latin typeface="Calibri"/>
              </a:rPr>
              <a:t>a stale S3 key broke 37/48 Glue jobs (~28h outage) — resolved with a stable key.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463040"/>
            <a:ext cx="4251960" cy="4434840"/>
          </a:xfrm>
          <a:prstGeom prst="rect">
            <a:avLst/>
          </a:prstGeom>
          <a:solidFill>
            <a:srgbClr val="0F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80" y="17373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THE PIPELINE 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2240280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 Light"/>
              </a:rPr>
              <a:t>14+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313432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8D8DC"/>
                </a:solidFill>
                <a:latin typeface="Calibri"/>
              </a:rPr>
              <a:t>open municipal / regional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2953512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 Ligh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026664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8D8DC"/>
                </a:solidFill>
                <a:latin typeface="Calibri"/>
              </a:rPr>
              <a:t>S3 buckets (Bronze / Silver / Gold)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3666744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 Light"/>
              </a:rPr>
              <a:t>46+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739896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8D8DC"/>
                </a:solidFill>
                <a:latin typeface="Calibri"/>
              </a:rPr>
              <a:t>AWS Glue ETL jobs, serverless Spark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4379976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 Light"/>
              </a:rPr>
              <a:t>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45312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8D8DC"/>
                </a:solidFill>
                <a:latin typeface="Calibri"/>
              </a:rPr>
              <a:t>cost per data source (open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509320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 Light"/>
              </a:rPr>
              <a:t>~$280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516636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8D8DC"/>
                </a:solidFill>
                <a:latin typeface="Calibri"/>
              </a:rPr>
              <a:t>total AWS spend before freeze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GRAPH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43E"/>
                </a:solidFill>
                <a:latin typeface="Calibri Light"/>
              </a:rPr>
              <a:t>Modeling the City as a Graph (Neo4j)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05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Madroño — TFM Defense</a:t>
            </a:r>
          </a:p>
        </p:txBody>
      </p:sp>
      <p:pic>
        <p:nvPicPr>
          <p:cNvPr id="8" name="Picture 7" descr="05_modelo_gra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400800" cy="13497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2949970"/>
            <a:ext cx="64008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00">
                <a:solidFill>
                  <a:srgbClr val="0F243E"/>
                </a:solidFill>
                <a:latin typeface="Calibri"/>
              </a:rPr>
              <a:t>5 node types, 4 relationships</a:t>
            </a:r>
            <a:r>
              <a:rPr sz="1400">
                <a:solidFill>
                  <a:srgbClr val="222B33"/>
                </a:solidFill>
                <a:latin typeface="Calibri"/>
              </a:rPr>
              <a:t> — built once, reused by 7 of the 19 assistant tools.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00">
                <a:solidFill>
                  <a:srgbClr val="0F243E"/>
                </a:solidFill>
                <a:latin typeface="Calibri"/>
              </a:rPr>
              <a:t>Resilience analysis (offline networkx): </a:t>
            </a:r>
            <a:r>
              <a:rPr sz="1400">
                <a:solidFill>
                  <a:srgbClr val="222B33"/>
                </a:solidFill>
                <a:latin typeface="Calibri"/>
              </a:rPr>
              <a:t>683 articulation points, 740 bridges — 20.3% of all edges.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00">
                <a:solidFill>
                  <a:srgbClr val="0F243E"/>
                </a:solidFill>
                <a:latin typeface="Calibri"/>
              </a:rPr>
              <a:t>Targeted vs. random failure: </a:t>
            </a:r>
            <a:r>
              <a:rPr sz="1400">
                <a:solidFill>
                  <a:srgbClr val="222B33"/>
                </a:solidFill>
                <a:latin typeface="Calibri"/>
              </a:rPr>
              <a:t>5% targeted node removal → 39.6% largest-component survival, vs. 89.1% under random removal.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00">
                <a:solidFill>
                  <a:srgbClr val="0F243E"/>
                </a:solidFill>
                <a:latin typeface="Calibri"/>
              </a:rPr>
              <a:t>Honest caveat: </a:t>
            </a:r>
            <a:r>
              <a:rPr sz="1400">
                <a:solidFill>
                  <a:srgbClr val="222B33"/>
                </a:solidFill>
                <a:latin typeface="Calibri"/>
              </a:rPr>
              <a:t>the graph models one representative trip per line — a structural finding, not an operational diagnosis.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1463040"/>
            <a:ext cx="4389120" cy="443484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69480" y="1463040"/>
            <a:ext cx="4389120" cy="8229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73736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LIVE GRAPH SNAPSHOT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33172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243E"/>
                </a:solidFill>
                <a:latin typeface="Calibri Light"/>
              </a:rPr>
              <a:t>~9,800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84378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0"/>
                </a:solidFill>
                <a:latin typeface="Calibri"/>
              </a:rPr>
              <a:t>nodes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227832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243E"/>
                </a:solidFill>
                <a:latin typeface="Calibri Light"/>
              </a:rPr>
              <a:t>~76,000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739896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0"/>
                </a:solidFill>
                <a:latin typeface="Calibri"/>
              </a:rPr>
              <a:t>relationships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123944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243E"/>
                </a:solidFill>
                <a:latin typeface="Calibri Light"/>
              </a:rPr>
              <a:t>AuraDB Free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63600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0"/>
                </a:solidFill>
                <a:latin typeface="Calibri"/>
              </a:rPr>
              <a:t>$0 / month, APOC enabled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5065776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22B33"/>
                </a:solidFill>
                <a:latin typeface="Calibri"/>
              </a:rPr>
              <a:t>Node types: District, Neighbourhood, Place,</a:t>
            </a:r>
          </a:p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22B33"/>
                </a:solidFill>
                <a:latin typeface="Calibri"/>
              </a:rPr>
              <a:t>Sensor Station, Transit Stop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43E"/>
                </a:solidFill>
                <a:latin typeface="Calibri Light"/>
              </a:rPr>
              <a:t>Forecasting: Two Tiers, One Honest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06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Madroño — TFM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B33"/>
                </a:solidFill>
                <a:latin typeface="Calibri"/>
              </a:rPr>
              <a:t>Skill vs. a persistence baseline (production window, temporal holdout) — LightGBM, per horizon: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65960"/>
          <a:ext cx="6940296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673352"/>
                <a:gridCol w="1673352"/>
                <a:gridCol w="1673352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F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h1 (1h)</a:t>
                      </a:r>
                    </a:p>
                  </a:txBody>
                  <a:tcPr>
                    <a:solidFill>
                      <a:srgbClr val="0F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h3 (3h)</a:t>
                      </a:r>
                    </a:p>
                  </a:txBody>
                  <a:tcPr>
                    <a:solidFill>
                      <a:srgbClr val="0F24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h6 (6h)</a:t>
                      </a:r>
                    </a:p>
                  </a:txBody>
                  <a:tcPr>
                    <a:solidFill>
                      <a:srgbClr val="0F243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0F243E"/>
                          </a:solidFill>
                        </a:rPr>
                        <a:t>Air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B03A2E"/>
                          </a:solidFill>
                        </a:rPr>
                        <a:t>−0.16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B03A2E"/>
                          </a:solidFill>
                        </a:rPr>
                        <a:t>−0.13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E7A46"/>
                          </a:solidFill>
                        </a:rPr>
                        <a:t>+0.24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0F243E"/>
                          </a:solidFill>
                        </a:rPr>
                        <a:t>Traffic</a:t>
                      </a:r>
                    </a:p>
                  </a:txBody>
                  <a:tcPr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E7A46"/>
                          </a:solidFill>
                        </a:rPr>
                        <a:t>+0.34</a:t>
                      </a:r>
                    </a:p>
                  </a:txBody>
                  <a:tcPr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E7A46"/>
                          </a:solidFill>
                        </a:rPr>
                        <a:t>+0.58</a:t>
                      </a:r>
                    </a:p>
                  </a:txBody>
                  <a:tcPr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E7A46"/>
                          </a:solidFill>
                        </a:rPr>
                        <a:t>+0.75</a:t>
                      </a:r>
                    </a:p>
                  </a:txBody>
                  <a:tcPr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977640"/>
            <a:ext cx="6949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300">
                <a:solidFill>
                  <a:srgbClr val="0F243E"/>
                </a:solidFill>
                <a:latin typeface="Calibri"/>
              </a:rPr>
              <a:t>Anti-leakage discipline: </a:t>
            </a:r>
            <a:r>
              <a:rPr sz="1300">
                <a:solidFill>
                  <a:srgbClr val="222B33"/>
                </a:solidFill>
                <a:latin typeface="Calibri"/>
              </a:rPr>
              <a:t>every feature carries a known_at timestamp — only known-at-t data enters the panel for hour 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300">
                <a:solidFill>
                  <a:srgbClr val="0F243E"/>
                </a:solidFill>
                <a:latin typeface="Calibri"/>
              </a:rPr>
              <a:t>Air quality loses at h1/h3: </a:t>
            </a:r>
            <a:r>
              <a:rPr sz="1300">
                <a:solidFill>
                  <a:srgbClr val="222B33"/>
                </a:solidFill>
                <a:latin typeface="Calibri"/>
              </a:rPr>
              <a:t>persistence is a genuinely strong baseline on a calm, short window.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300">
                <a:solidFill>
                  <a:srgbClr val="0F243E"/>
                </a:solidFill>
                <a:latin typeface="Calibri"/>
              </a:rPr>
              <a:t>Traffic wins clearly: </a:t>
            </a:r>
            <a:r>
              <a:rPr sz="1300">
                <a:solidFill>
                  <a:srgbClr val="222B33"/>
                </a:solidFill>
                <a:latin typeface="Calibri"/>
              </a:rPr>
              <a:t>real intraday dynamics that persistence cannot capture; margin grows with horizon.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463040"/>
            <a:ext cx="3840480" cy="4343400"/>
          </a:xfrm>
          <a:prstGeom prst="rect">
            <a:avLst/>
          </a:prstGeom>
          <a:solidFill>
            <a:srgbClr val="0F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8A9E"/>
                </a:solidFill>
                <a:latin typeface="Calibri"/>
              </a:rPr>
              <a:t>MODEL PIPELINE (modelado/)</a:t>
            </a:r>
          </a:p>
        </p:txBody>
      </p:sp>
      <p:pic>
        <p:nvPicPr>
          <p:cNvPr id="13" name="Picture 12" descr="03_pipeline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194560"/>
            <a:ext cx="3474720" cy="9349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92440" y="3566160"/>
            <a:ext cx="3291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Feature store (no leakage) → training →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MLflow registry (@champion) → ONNX export.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19-feature contract (lags, rolling stats,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calendar, cyclical encodings) shared by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LightGBM and the ONNX runtime.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43E"/>
                </a:solidFill>
                <a:latin typeface="Calibri Light"/>
              </a:rPr>
              <a:t>Tier 2: A Hand-Built Spatio-Temporal GNN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07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Madroño — TFM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49224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00">
                <a:solidFill>
                  <a:srgbClr val="0F243E"/>
                </a:solidFill>
                <a:latin typeface="Calibri"/>
              </a:rPr>
              <a:t>Architecture: </a:t>
            </a:r>
            <a:r>
              <a:rPr sz="1400">
                <a:solidFill>
                  <a:srgbClr val="222B33"/>
                </a:solidFill>
                <a:latin typeface="Calibri"/>
              </a:rPr>
              <a:t>GraphSAGE (message passing) + GRU (temporal) + linear head — CPU only, ~100 lines of torch.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00">
                <a:solidFill>
                  <a:srgbClr val="0F243E"/>
                </a:solidFill>
                <a:latin typeface="Calibri"/>
              </a:rPr>
              <a:t>Hand-rolled graph convolution, deliberately: </a:t>
            </a:r>
            <a:r>
              <a:rPr sz="1400">
                <a:solidFill>
                  <a:srgbClr val="222B33"/>
                </a:solidFill>
                <a:latin typeface="Calibri"/>
              </a:rPr>
              <a:t>keeps edge_weight inside the autograd graph — ∂loss/∂edge_weight IS the edge-importance metric.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00">
                <a:solidFill>
                  <a:srgbClr val="0F243E"/>
                </a:solidFill>
                <a:latin typeface="Calibri"/>
              </a:rPr>
              <a:t>Honest result on the production window: </a:t>
            </a:r>
            <a:r>
              <a:rPr sz="1400">
                <a:solidFill>
                  <a:srgbClr val="222B33"/>
                </a:solidFill>
                <a:latin typeface="Calibri"/>
              </a:rPr>
              <a:t>loses to LightGBM on accuracy; served for explainability, reliability capped “LOW” end-to-end.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00">
                <a:solidFill>
                  <a:srgbClr val="0F243E"/>
                </a:solidFill>
                <a:latin typeface="Calibri"/>
              </a:rPr>
              <a:t>External validation (MTD, 300 sensors / 29 months): </a:t>
            </a:r>
            <a:r>
              <a:rPr sz="1400">
                <a:solidFill>
                  <a:srgbClr val="222B33"/>
                </a:solidFill>
                <a:latin typeface="Calibri"/>
              </a:rPr>
              <a:t>skill +0.37 / +0.70 / +0.85 (h1/h3/h6) — margin grows with horizon.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00">
                <a:solidFill>
                  <a:srgbClr val="0F243E"/>
                </a:solidFill>
                <a:latin typeface="Calibri"/>
              </a:rPr>
              <a:t>ONNX export (dynamo exporter): </a:t>
            </a:r>
            <a:r>
              <a:rPr sz="1400">
                <a:solidFill>
                  <a:srgbClr val="222B33"/>
                </a:solidFill>
                <a:latin typeface="Calibri"/>
              </a:rPr>
              <a:t>parity ~6e-8; serves in production with zero torch dependency.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1463040"/>
            <a:ext cx="4297680" cy="443484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60920" y="1463040"/>
            <a:ext cx="4297680" cy="8229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73736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8A9E"/>
                </a:solidFill>
                <a:latin typeface="Calibri"/>
              </a:rPr>
              <a:t>WHY THIS RESULT IS A STRENGTH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331720"/>
            <a:ext cx="3749039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The production shortfall is a data-volume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problem specific to a 3-week window —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not an architecture flaw.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On a properly-sized external dataset, the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same architecture clearly beats persistence,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with a margin that grows with horizon: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exactly the signature of real learning.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Distinguishing “wrong architecture” from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“not enough data yet” required an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independent benchmark — stronger than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B33"/>
                </a:solidFill>
                <a:latin typeface="Calibri"/>
              </a:rPr>
              <a:t>asserting it without proof.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CONVERSATIONAL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43E"/>
                </a:solidFill>
                <a:latin typeface="Calibri Light"/>
              </a:rPr>
              <a:t>FastAPI + Model Context Protocol (MCP)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08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Madroño — TFM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67512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Why MCP: </a:t>
            </a:r>
            <a:r>
              <a:rPr sz="1450">
                <a:solidFill>
                  <a:srgbClr val="222B33"/>
                </a:solidFill>
                <a:latin typeface="Calibri"/>
              </a:rPr>
              <a:t>the open protocol LLM clients use for typed tool calls — any conforming client integrates with zero custom code.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19 MCP tools, 0 NotImplementedError</a:t>
            </a:r>
            <a:r>
              <a:rPr sz="1450">
                <a:solidFill>
                  <a:srgbClr val="222B33"/>
                </a:solidFill>
                <a:latin typeface="Calibri"/>
              </a:rPr>
              <a:t> — air quality, traffic, forecasts (LightGBM + graph STGNN), healthy routing, graph queries, and more.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One uniform contract: </a:t>
            </a:r>
            <a:r>
              <a:rPr sz="1450">
                <a:solidFill>
                  <a:srgbClr val="222B33"/>
                </a:solidFill>
                <a:latin typeface="Calibri"/>
              </a:rPr>
              <a:t>no tool ever raises an exception — missing data degrades to a labeled “not available” response.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Verified against reality: </a:t>
            </a:r>
            <a:r>
              <a:rPr sz="1450">
                <a:solidFill>
                  <a:srgbClr val="222B33"/>
                </a:solidFill>
                <a:latin typeface="Calibri"/>
              </a:rPr>
              <a:t>every tool run against the real AWS account and live Neo4j — real bugs found and fixed.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4069080" cy="443484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463040"/>
            <a:ext cx="4069080" cy="8229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8A9E"/>
                </a:solidFill>
                <a:latin typeface="Calibri"/>
              </a:rPr>
              <a:t>REQUEST FLOW</a:t>
            </a:r>
          </a:p>
        </p:txBody>
      </p:sp>
      <p:pic>
        <p:nvPicPr>
          <p:cNvPr id="12" name="Picture 11" descr="04_secuencia_consu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57400"/>
            <a:ext cx="3703320" cy="13053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63840" y="3545639"/>
            <a:ext cx="3566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opciones_movilidad never invents a travel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duration — no walkable street graph exists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yet. The tool states real conditions near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each endpoint instead of guessing.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Stating the system's boundary, not hiding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it, is applied across all 19 tools.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43E"/>
                </a:solidFill>
                <a:latin typeface="Calibri Light"/>
              </a:rPr>
              <a:t>The “Wow” Deliverable: An Animated City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09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Madroño — TFM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67512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1,798 traffic nodes, 8,758 edges</a:t>
            </a:r>
            <a:r>
              <a:rPr sz="1450">
                <a:solidFill>
                  <a:srgbClr val="222B33"/>
                </a:solidFill>
                <a:latin typeface="Calibri"/>
              </a:rPr>
              <a:t>, animated hour-by-hour across 3 curated days, colored by a 0–100 health index.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Fully offline-generated: </a:t>
            </a:r>
            <a:r>
              <a:rPr sz="1450">
                <a:solidFill>
                  <a:srgbClr val="222B33"/>
                </a:solidFill>
                <a:latin typeface="Calibri"/>
              </a:rPr>
              <a:t>deck.gl + a frozen Gold snapshot — zero live AWS calls per viewer, hosted free on GitHub Pages.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9 sensitivity profiles</a:t>
            </a:r>
            <a:r>
              <a:rPr sz="1450">
                <a:solidFill>
                  <a:srgbClr val="222B33"/>
                </a:solidFill>
                <a:latin typeface="Calibri"/>
              </a:rPr>
              <a:t>, edge-importance arcs, model-vs-persistence layer, embedded chat.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450">
                <a:solidFill>
                  <a:srgbClr val="0F243E"/>
                </a:solidFill>
                <a:latin typeface="Calibri"/>
              </a:rPr>
              <a:t>Limitations stated on the page itself: </a:t>
            </a:r>
            <a:r>
              <a:rPr sz="1450">
                <a:solidFill>
                  <a:srgbClr val="222B33"/>
                </a:solidFill>
                <a:latin typeface="Calibri"/>
              </a:rPr>
              <a:t>noise is daily, air quality is interpolated, STGNN &lt; LightGBM on accuracy.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4069080" cy="443484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463040"/>
            <a:ext cx="4069080" cy="8229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8A9E"/>
                </a:solidFill>
                <a:latin typeface="Calibri"/>
              </a:rPr>
              <a:t>MCP CATALOG &amp; PUBLIC SURFACES</a:t>
            </a:r>
          </a:p>
        </p:txBody>
      </p:sp>
      <p:pic>
        <p:nvPicPr>
          <p:cNvPr id="12" name="Picture 11" descr="07_mcp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57400"/>
            <a:ext cx="3703320" cy="17351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63840" y="3929696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43E"/>
                </a:solidFill>
                <a:latin typeface="Calibri"/>
              </a:rPr>
              <a:t>madrono-ucm.github.io/madronoTFM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295456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Free · no login · embedded chat — the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recommended entry point for evaluating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the project.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METHODOLOGY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43E"/>
                </a:solidFill>
                <a:latin typeface="Calibri Light"/>
              </a:rPr>
              <a:t>How It Was Built, and What's Left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10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670"/>
                </a:solidFill>
                <a:latin typeface="Calibri"/>
              </a:rPr>
              <a:t>Madroño — TFM Defense</a:t>
            </a:r>
          </a:p>
        </p:txBody>
      </p:sp>
      <p:pic>
        <p:nvPicPr>
          <p:cNvPr id="8" name="Picture 7" descr="08_framework_ag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716" y="1463040"/>
            <a:ext cx="9595520" cy="1417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108960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9E"/>
                </a:solidFill>
                <a:latin typeface="Calibri"/>
              </a:rPr>
              <a:t>ENGINEERING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53492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300">
                <a:solidFill>
                  <a:srgbClr val="0F243E"/>
                </a:solidFill>
                <a:latin typeface="Calibri"/>
              </a:rPr>
              <a:t>Autonomous coding agent</a:t>
            </a:r>
            <a:r>
              <a:rPr sz="1300">
                <a:solidFill>
                  <a:srgbClr val="222B33"/>
                </a:solidFill>
                <a:latin typeface="Calibri"/>
              </a:rPr>
              <a:t> on a strict-order task queue, one PR per task.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300">
                <a:solidFill>
                  <a:srgbClr val="0F243E"/>
                </a:solidFill>
                <a:latin typeface="Calibri"/>
              </a:rPr>
              <a:t>Sole hard safety net: </a:t>
            </a:r>
            <a:r>
              <a:rPr sz="1300">
                <a:solidFill>
                  <a:srgbClr val="222B33"/>
                </a:solidFill>
                <a:latin typeface="Calibri"/>
              </a:rPr>
              <a:t>nothing reaches main without a human-reviewed PR.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F8A9E"/>
                </a:solidFill>
                <a:latin typeface="Calibri"/>
              </a:rPr>
              <a:t>▪  </a:t>
            </a:r>
            <a:r>
              <a:rPr b="1" sz="1300">
                <a:solidFill>
                  <a:srgbClr val="0F243E"/>
                </a:solidFill>
                <a:latin typeface="Calibri"/>
              </a:rPr>
              <a:t>A real process gap found &amp; fixed: </a:t>
            </a:r>
            <a:r>
              <a:rPr sz="1300">
                <a:solidFill>
                  <a:srgbClr val="222B33"/>
                </a:solidFill>
                <a:latin typeface="Calibri"/>
              </a:rPr>
              <a:t>auto-merge originally didn't wait for CI.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108960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03A2E"/>
                </a:solidFill>
                <a:latin typeface="Calibri"/>
              </a:rPr>
              <a:t>HONEST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474720"/>
            <a:ext cx="53492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B03A2E"/>
                </a:solidFill>
                <a:latin typeface="Calibri"/>
              </a:rPr>
              <a:t>▪  </a:t>
            </a:r>
            <a:r>
              <a:rPr sz="1300">
                <a:solidFill>
                  <a:srgbClr val="222B33"/>
                </a:solidFill>
                <a:latin typeface="Calibri"/>
              </a:rPr>
              <a:t>Short ingestion window (~3–4 weeks) — no seasonal claims possible.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B03A2E"/>
                </a:solidFill>
                <a:latin typeface="Calibri"/>
              </a:rPr>
              <a:t>▪  </a:t>
            </a:r>
            <a:r>
              <a:rPr sz="1300">
                <a:solidFill>
                  <a:srgbClr val="222B33"/>
                </a:solidFill>
                <a:latin typeface="Calibri"/>
              </a:rPr>
              <a:t>No hot streaming path — Kafka designed, deliberately never applied.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B03A2E"/>
                </a:solidFill>
                <a:latin typeface="Calibri"/>
              </a:rPr>
              <a:t>▪  </a:t>
            </a:r>
            <a:r>
              <a:rPr sz="1300">
                <a:solidFill>
                  <a:srgbClr val="222B33"/>
                </a:solidFill>
                <a:latin typeface="Calibri"/>
              </a:rPr>
              <a:t>No real street-routing graph — stated as a boundary, not hidden.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080760"/>
            <a:ext cx="11064240" cy="19050"/>
          </a:xfrm>
          <a:prstGeom prst="rect">
            <a:avLst/>
          </a:prstGeom>
          <a:solidFill>
            <a:srgbClr val="C9D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9963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0F243E"/>
                </a:solidFill>
                <a:latin typeface="Calibri"/>
              </a:rPr>
              <a:t>Every limitation above is stated in the thesis itself — proactively, not extracted by questioning.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 Light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005840" cy="38100"/>
          </a:xfrm>
          <a:prstGeom prst="rect">
            <a:avLst/>
          </a:prstGeom>
          <a:solidFill>
            <a:srgbClr val="1F8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520440" cy="1691640"/>
          </a:xfrm>
          <a:prstGeom prst="rect">
            <a:avLst/>
          </a:prstGeom>
          <a:solidFill>
            <a:srgbClr val="0A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2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F8A9E"/>
                </a:solidFill>
                <a:latin typeface="Calibri Light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MCP tools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zero unimplemented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91640"/>
            <a:ext cx="3520440" cy="1691640"/>
          </a:xfrm>
          <a:prstGeom prst="rect">
            <a:avLst/>
          </a:prstGeom>
          <a:solidFill>
            <a:srgbClr val="0A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7452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F8A9E"/>
                </a:solidFill>
                <a:latin typeface="Calibri Light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continuous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data producers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91640"/>
            <a:ext cx="3520440" cy="1691640"/>
          </a:xfrm>
          <a:prstGeom prst="rect">
            <a:avLst/>
          </a:prstGeom>
          <a:solidFill>
            <a:srgbClr val="0A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7452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F8A9E"/>
                </a:solidFill>
                <a:latin typeface="Calibri Light"/>
              </a:rPr>
              <a:t>~9,800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0604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graph nodes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~76k relationships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3520440" cy="1691640"/>
          </a:xfrm>
          <a:prstGeom prst="rect">
            <a:avLst/>
          </a:prstGeom>
          <a:solidFill>
            <a:srgbClr val="0A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4048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F8A9E"/>
                </a:solidFill>
                <a:latin typeface="Calibri Light"/>
              </a:rPr>
              <a:t>~$280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total AWS spend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before freeze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57600"/>
            <a:ext cx="3520440" cy="1691640"/>
          </a:xfrm>
          <a:prstGeom prst="rect">
            <a:avLst/>
          </a:prstGeom>
          <a:solidFill>
            <a:srgbClr val="0A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84048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F8A9E"/>
                </a:solidFill>
                <a:latin typeface="Calibri Light"/>
              </a:rPr>
              <a:t>1,143+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57200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automated tests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zero real credentials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57600"/>
            <a:ext cx="3520440" cy="1691640"/>
          </a:xfrm>
          <a:prstGeom prst="rect">
            <a:avLst/>
          </a:prstGeom>
          <a:solidFill>
            <a:srgbClr val="0A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84048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F8A9E"/>
                </a:solidFill>
                <a:latin typeface="Calibri Ligh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57200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public surfaces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8E6EA"/>
                </a:solidFill>
                <a:latin typeface="Calibri"/>
              </a:rPr>
              <a:t>one shared 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