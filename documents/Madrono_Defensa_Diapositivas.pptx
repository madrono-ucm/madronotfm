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3175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8A9E"/>
                </a:solidFill>
                <a:latin typeface="Calibri"/>
              </a:rPr>
              <a:t>TRABAJO FIN DE MÁSTER (TFM) —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 Light"/>
              </a:rPr>
              <a:t>Madroño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8E6EA"/>
                </a:solidFill>
                <a:latin typeface="Calibri"/>
              </a:rPr>
              <a:t>Una plataforma de datos de movilidad urbana para Madrid,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8E6EA"/>
                </a:solidFill>
                <a:latin typeface="Calibri"/>
              </a:rPr>
              <a:t>de los datos abiertos a un asistente conversacional consciente del grafo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1280160" cy="3175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Filippos Dorezi  ·  Víctor Huaman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FC2C9"/>
                </a:solidFill>
                <a:latin typeface="Calibri"/>
              </a:rPr>
              <a:t>Pista Sistema (código, datos, ML, infraestructura) y pista 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B4BC"/>
                </a:solidFill>
                <a:latin typeface="Calibri"/>
              </a:rPr>
              <a:t>Universidad Complutense de Madrid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Tres restricciones reales explican cada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Dos personas, sin rol de operaciones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Sin infraestructura/SRE dedicada. Todo lo que haya que “mantener encendido” (un broker Kafka, un clúster Spark, una base de grafos autogestionada) es un pasivo que el equipo no puede asumir → pila serverless desde el principio.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Una ventana de datos reales corta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La ingesta continua arrancó el 2026-08-14 — solo ~3–4 semanas de histórico horario al entrenar. Obliga a un planteamiento honesto: el ML es una demostración de metodología, no una estimación de rendimiento.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Solo datos a coste cero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Todas las fuentes son datos abiertos. La señal de popularidad de Google Maps se investigó, se verificó que exige cuenta de facturación incluso en el nivel gratuito, y se sustituyó por una señal derivada del grafo.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0F243E"/>
                </a:solidFill>
                <a:latin typeface="Calibri"/>
              </a:rPr>
              <a:t>Conclusión: cada decisión arquitectónica de este proyecto remite a una de estas tres restricciones.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Un único pipeline, un backend, tres superficies públicas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4552" cy="416052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0703"/>
            <a:ext cx="10817352" cy="1648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670"/>
                </a:solidFill>
                <a:latin typeface="Calibri"/>
              </a:rPr>
              <a:t>Las tres superficies públicas comparten el mismo backend conversacional — un único agente, un único chat, tres capas de presentación.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CAPA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Lakehouse medallón: Bronze → Silver → 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pic>
        <p:nvPicPr>
          <p:cNvPr id="8" name="Picture 7" descr="02_pipeline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92240" cy="1455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055524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16 productores en continuo</a:t>
            </a:r>
            <a:r>
              <a:rPr sz="1450">
                <a:solidFill>
                  <a:srgbClr val="222B33"/>
                </a:solidFill>
                <a:latin typeface="Calibri"/>
              </a:rPr>
              <a:t> (Lambda + EventBridge Scheduler) + 7 cargas batch de referencia.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Puertas de calidad en cada paso: </a:t>
            </a:r>
            <a:r>
              <a:rPr sz="1450">
                <a:solidFill>
                  <a:srgbClr val="222B33"/>
                </a:solidFill>
                <a:latin typeface="Calibri"/>
              </a:rPr>
              <a:t>reglas de plausibilidad + Great Expectations, dentro del propio job real de AWS Glue.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Decisión clave: </a:t>
            </a:r>
            <a:r>
              <a:rPr sz="1450">
                <a:solidFill>
                  <a:srgbClr val="222B33"/>
                </a:solidFill>
                <a:latin typeface="Calibri"/>
              </a:rPr>
              <a:t>la lógica de negocio es Python puro — sin dependencia de pyspark/pandas; solo un adaptador fino toca Spark.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Incidente real, encontrado y resuelto: </a:t>
            </a:r>
            <a:r>
              <a:rPr sz="1450">
                <a:solidFill>
                  <a:srgbClr val="222B33"/>
                </a:solidFill>
                <a:latin typeface="Calibri"/>
              </a:rPr>
              <a:t>una key de S3 obsoleta rompió 37/48 jobs de Glue (~28h) — resuelto con una key estable.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251960" cy="443484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EL PIPELINE DE UN VISTAZO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24028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1343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fuentes municipales / regionales abiertas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953512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26664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buckets S3 (Bronze / Silver / Gold)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666744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46+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398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jobs ETL de AWS Glue, Spark serverless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37997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0 $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4531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coste por fuente de datos (datos abiertos)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09320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~280 $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1663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gasto total en AWS antes de la congelación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CAPA DE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Modelar la ciudad como un grafo (Neo4j)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pic>
        <p:nvPicPr>
          <p:cNvPr id="8" name="Picture 7" descr="05_modelo_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1349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949970"/>
            <a:ext cx="6400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5 tipos de nodo, 4 relaciones</a:t>
            </a:r>
            <a:r>
              <a:rPr sz="1400">
                <a:solidFill>
                  <a:srgbClr val="222B33"/>
                </a:solidFill>
                <a:latin typeface="Calibri"/>
              </a:rPr>
              <a:t> — construidas una sola vez, reutilizadas por 7 de las 19 tools del asistente.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Análisis de resiliencia (networkx offline): </a:t>
            </a:r>
            <a:r>
              <a:rPr sz="1400">
                <a:solidFill>
                  <a:srgbClr val="222B33"/>
                </a:solidFill>
                <a:latin typeface="Calibri"/>
              </a:rPr>
              <a:t>683 puntos de articulación, 740 puentes — el 20,3% de todas las aristas.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Fallo dirigido frente a aleatorio: </a:t>
            </a:r>
            <a:r>
              <a:rPr sz="1400">
                <a:solidFill>
                  <a:srgbClr val="222B33"/>
                </a:solidFill>
                <a:latin typeface="Calibri"/>
              </a:rPr>
              <a:t>eliminar el 5% de nodos de mayor grado → 39,6% de supervivencia, frente al 89,1% aleatorio.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Matiz honesto: </a:t>
            </a:r>
            <a:r>
              <a:rPr sz="1400">
                <a:solidFill>
                  <a:srgbClr val="222B33"/>
                </a:solidFill>
                <a:latin typeface="Calibri"/>
              </a:rPr>
              <a:t>el grafo modela un único viaje representativo por línea — hallazgo estructural, no diagnóstico operativo.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463040"/>
            <a:ext cx="438912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463040"/>
            <a:ext cx="438912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7373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INSTANTÁNEA DEL GRAFO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31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~9.800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437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nodos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22783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~76.000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7398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relaciones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12394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AuraDB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360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0 €/mes, con APOC habilitado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065776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22B33"/>
                </a:solidFill>
                <a:latin typeface="Calibri"/>
              </a:rPr>
              <a:t>Tipos de nodo: Distrito, Barrio, Lugar,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22B33"/>
                </a:solidFill>
                <a:latin typeface="Calibri"/>
              </a:rPr>
              <a:t>Estación de Medida, Parada de Transporte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APRENDIZAJE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Previsión: dos niveles, una comparación honesta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Skill frente a una línea base de persistencia (ventana de producción, holdout temporal) — LightGBM, por horizonte: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694029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73352"/>
                <a:gridCol w="1673352"/>
                <a:gridCol w="1673352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Objetivo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h1 (1h)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h3 (3h)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h6 (6h)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F243E"/>
                          </a:solidFill>
                        </a:rPr>
                        <a:t>Calidad del 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03A2E"/>
                          </a:solidFill>
                        </a:rPr>
                        <a:t>−0,16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03A2E"/>
                          </a:solidFill>
                        </a:rPr>
                        <a:t>−0,13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F243E"/>
                          </a:solidFill>
                        </a:rPr>
                        <a:t>Tráfico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+0,34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+0,58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+0,75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97764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Disciplina anti-fuga temporal: </a:t>
            </a:r>
            <a:r>
              <a:rPr sz="1300">
                <a:solidFill>
                  <a:srgbClr val="222B33"/>
                </a:solidFill>
                <a:latin typeface="Calibri"/>
              </a:rPr>
              <a:t>cada feature lleva un known_at — solo entra al panel de la hora t lo ya conocido en 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La calidad del aire pierde a h1/h3: </a:t>
            </a:r>
            <a:r>
              <a:rPr sz="1300">
                <a:solidFill>
                  <a:srgbClr val="222B33"/>
                </a:solidFill>
                <a:latin typeface="Calibri"/>
              </a:rPr>
              <a:t>la persistencia es una línea base realmente fuerte en una ventana corta y tranquila.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El tráfico gana con claridad: </a:t>
            </a:r>
            <a:r>
              <a:rPr sz="1300">
                <a:solidFill>
                  <a:srgbClr val="222B33"/>
                </a:solidFill>
                <a:latin typeface="Calibri"/>
              </a:rPr>
              <a:t>dinámica intradía real que la persistencia no puede capturar; el margen crece con el horizonte.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463040"/>
            <a:ext cx="3840480" cy="43434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PIPELINE DEL MODELO (modelado/)</a:t>
            </a:r>
          </a:p>
        </p:txBody>
      </p:sp>
      <p:pic>
        <p:nvPicPr>
          <p:cNvPr id="13" name="Picture 12" descr="03_pipeline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194560"/>
            <a:ext cx="3474720" cy="9349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2440" y="356616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Feature store (sin fugas) → entrenamiento →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registro MLflow (@champion) → export ONNX.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Contrato de 19 features (lags, estadísticos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móviles, calendario, codificaciones cíclicas)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compartido por LightGBM y el runtime ONNX.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APRENDIZAJE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Nivel 2: una GNN espacio-temporal construida a mano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Arquitectura: </a:t>
            </a:r>
            <a:r>
              <a:rPr sz="1400">
                <a:solidFill>
                  <a:srgbClr val="222B33"/>
                </a:solidFill>
                <a:latin typeface="Calibri"/>
              </a:rPr>
              <a:t>GraphSAGE (message passing) + GRU (temporal) + cabeza lineal — solo CPU, ~100 líneas de torch.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Convolución de grafo a mano, a propósito: </a:t>
            </a:r>
            <a:r>
              <a:rPr sz="1400">
                <a:solidFill>
                  <a:srgbClr val="222B33"/>
                </a:solidFill>
                <a:latin typeface="Calibri"/>
              </a:rPr>
              <a:t>mantiene edge_weight en el autograd — ∂pérdida/∂edge_weight ES la importancia de aristas.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Resultado honesto en producción: </a:t>
            </a:r>
            <a:r>
              <a:rPr sz="1400">
                <a:solidFill>
                  <a:srgbClr val="222B33"/>
                </a:solidFill>
                <a:latin typeface="Calibri"/>
              </a:rPr>
              <a:t>pierde frente a LightGBM en precisión; se sirve por explicabilidad, fiabilidad topada en ‘BAJA’.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Validación externa (MTD, 300 sensores / 29 meses): </a:t>
            </a:r>
            <a:r>
              <a:rPr sz="1400">
                <a:solidFill>
                  <a:srgbClr val="222B33"/>
                </a:solidFill>
                <a:latin typeface="Calibri"/>
              </a:rPr>
              <a:t>skill +0,37 / +0,70 / +0,85 (h1/h3/h6) — el margen crece con el horizonte.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Export a ONNX (exportador dynamo): </a:t>
            </a:r>
            <a:r>
              <a:rPr sz="1400">
                <a:solidFill>
                  <a:srgbClr val="222B33"/>
                </a:solidFill>
                <a:latin typeface="Calibri"/>
              </a:rPr>
              <a:t>paridad ~6e-8; se sirve en producción sin dependencia de torch.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463040"/>
            <a:ext cx="42976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463040"/>
            <a:ext cx="42976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3736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POR QUÉ ESTE RESULTADO ES UNA FORTALEZA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331720"/>
            <a:ext cx="374903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El déficit en producción es un problema de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volumen de datos de una ventana de 3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semanas — no un fallo de arquitectura.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En un dataset externo de tamaño adecuado,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la misma arquitectura bate claramente a la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persistencia, con un margen que crece con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el horizonte: la firma de un aprendizaje real.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Distinguir ‘arquitectura equivocada’ de ‘aún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no hay datos suficientes’ exigía un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benchmark independiente — más sólido que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afirmarlo sin prueba.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ASISTENTE CONVERSACIONAL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FastAPI + Model Context Protocol (MCP)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67512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Por qué MCP: </a:t>
            </a:r>
            <a:r>
              <a:rPr sz="1450">
                <a:solidFill>
                  <a:srgbClr val="222B33"/>
                </a:solidFill>
                <a:latin typeface="Calibri"/>
              </a:rPr>
              <a:t>el protocolo abierto que usan los clientes LLM para llamar a herramientas tipadas — integración sin código a medida.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19 tools MCP, 0 NotImplementedError</a:t>
            </a:r>
            <a:r>
              <a:rPr sz="1450">
                <a:solidFill>
                  <a:srgbClr val="222B33"/>
                </a:solidFill>
                <a:latin typeface="Calibri"/>
              </a:rPr>
              <a:t> — calidad del aire, tráfico, previsiones (LightGBM + STGNN de grafo), ruta saludable, consultas al grafo, y más.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Un único contrato uniforme: </a:t>
            </a:r>
            <a:r>
              <a:rPr sz="1450">
                <a:solidFill>
                  <a:srgbClr val="222B33"/>
                </a:solidFill>
                <a:latin typeface="Calibri"/>
              </a:rPr>
              <a:t>ninguna tool lanza una excepción — la falta de datos degrada a ‘sin datos’ con un motivo legible.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Verificado contra la realidad: </a:t>
            </a:r>
            <a:r>
              <a:rPr sz="1450">
                <a:solidFill>
                  <a:srgbClr val="222B33"/>
                </a:solidFill>
                <a:latin typeface="Calibri"/>
              </a:rPr>
              <a:t>cada tool ejecutada contra la cuenta AWS real y el Neo4j en vivo — bugs reales encontrados y corregidos.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0690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0690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FLUJO DE UNA CONSULTA</a:t>
            </a:r>
          </a:p>
        </p:txBody>
      </p:sp>
      <p:pic>
        <p:nvPicPr>
          <p:cNvPr id="12" name="Picture 11" descr="04_secuencia_consu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57400"/>
            <a:ext cx="3703320" cy="1305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3545639"/>
            <a:ext cx="3566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opciones_movilidad nunca inventa una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duración de trayecto — no existe aún un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grafo viario transitable. La tool describe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condiciones reales en cada extremo.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Explicitar el límite del sistema, no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ocultarlo, se aplica en las 19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El elemento “wow”: un mapa animado de la ciudad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67512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1.798 nodos de tráfico, 8.758 aristas</a:t>
            </a:r>
            <a:r>
              <a:rPr sz="1450">
                <a:solidFill>
                  <a:srgbClr val="222B33"/>
                </a:solidFill>
                <a:latin typeface="Calibri"/>
              </a:rPr>
              <a:t>, animados hora a hora en 3 días curados, coloreados por un índice de salud 0–100.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Generado completamente offline: </a:t>
            </a:r>
            <a:r>
              <a:rPr sz="1450">
                <a:solidFill>
                  <a:srgbClr val="222B33"/>
                </a:solidFill>
                <a:latin typeface="Calibri"/>
              </a:rPr>
              <a:t>deck.gl + una instantánea congelada de Gold — cero llamadas a AWS en vivo, gratis en GitHub Pages.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9 perfiles de sensibilidad</a:t>
            </a:r>
            <a:r>
              <a:rPr sz="1450">
                <a:solidFill>
                  <a:srgbClr val="222B33"/>
                </a:solidFill>
                <a:latin typeface="Calibri"/>
              </a:rPr>
              <a:t>, arcos de importancia de aristas, capa modelo-vs-persistencia, chat incrustado.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Limitaciones declaradas en la propia página: </a:t>
            </a:r>
            <a:r>
              <a:rPr sz="1450">
                <a:solidFill>
                  <a:srgbClr val="222B33"/>
                </a:solidFill>
                <a:latin typeface="Calibri"/>
              </a:rPr>
              <a:t>el ruido es diario, el aire se interpola, el STGNN &lt; LightGBM en precisión.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0690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0690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CATÁLOGO MCP Y SUPERFICIES PÚBLICAS</a:t>
            </a:r>
          </a:p>
        </p:txBody>
      </p:sp>
      <p:pic>
        <p:nvPicPr>
          <p:cNvPr id="12" name="Picture 11" descr="07_mcp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57400"/>
            <a:ext cx="3703320" cy="1735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392969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43E"/>
                </a:solidFill>
                <a:latin typeface="Calibri"/>
              </a:rPr>
              <a:t>madrono-ucm.github.io/madronoTFM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29545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Gratuito · sin login · chat incrustado — el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punto de entrada recomendado para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evaluar el proyecto.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METODOLOGÍA Y LIMITACIONES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Cómo se construyó, y qué queda pendiente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Defensa del TFM</a:t>
            </a:r>
          </a:p>
        </p:txBody>
      </p:sp>
      <p:pic>
        <p:nvPicPr>
          <p:cNvPr id="8" name="Picture 7" descr="08_framework_ag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16" y="1463040"/>
            <a:ext cx="95955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10896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MÉTODO DE INGENIERÍA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Agente autónomo de codificación</a:t>
            </a:r>
            <a:r>
              <a:rPr sz="1300">
                <a:solidFill>
                  <a:srgbClr val="222B33"/>
                </a:solidFill>
                <a:latin typeface="Calibri"/>
              </a:rPr>
              <a:t> sobre una cola de tareas de orden estricto, un PR por tarea.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Única red de seguridad real: </a:t>
            </a:r>
            <a:r>
              <a:rPr sz="1300">
                <a:solidFill>
                  <a:srgbClr val="222B33"/>
                </a:solidFill>
                <a:latin typeface="Calibri"/>
              </a:rPr>
              <a:t>nada llega a main sin un PR revisado por un humano.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Un fallo real de proceso, corregido: </a:t>
            </a:r>
            <a:r>
              <a:rPr sz="1300">
                <a:solidFill>
                  <a:srgbClr val="222B33"/>
                </a:solidFill>
                <a:latin typeface="Calibri"/>
              </a:rPr>
              <a:t>el auto-merge no esperaba en un principio a que la CI estuviera en verde.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0896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A2E"/>
                </a:solidFill>
                <a:latin typeface="Calibri"/>
              </a:rPr>
              <a:t>LIMITACIONES HONESTAS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Ventana de ingesta corta (~3–4 semanas) — no permite afirmaciones estacionales.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Sin ruta caliente de streaming — Kafka diseñado, deliberadamente nunca aplicado.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Sin grafo real de rutas por calle — declarado como límite, no oculto.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80760"/>
            <a:ext cx="11064240" cy="19050"/>
          </a:xfrm>
          <a:prstGeom prst="rect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0F243E"/>
                </a:solidFill>
                <a:latin typeface="Calibri"/>
              </a:rPr>
              <a:t>Cada limitación anterior está recogida en la propia memoria — de forma proactiva, no extraída a preguntas.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 Light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tools MCP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cero sin implementar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productores de datos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en continuo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~9.800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nodos del grafo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~76 mil relaciones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~280 $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gasto total en AWS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antes de la congelación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1.143+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tests automatizados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sin credenciales reales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superficies públicas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un backend compartido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Gracias — quedamos abiertos a preguntas.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